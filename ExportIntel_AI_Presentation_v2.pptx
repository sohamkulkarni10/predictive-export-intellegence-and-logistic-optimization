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183674"/>
                </a:solidFill>
                <a:latin typeface="Calibri"/>
              </a:defRPr>
            </a:pPr>
            <a:r>
              <a:t>ExportIntel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  <a:latin typeface="Calibri"/>
              </a:defRPr>
            </a:pPr>
            <a:r>
              <a:t>Predictive Export Intelligence &amp; Logistics Optimization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88135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400">
                <a:solidFill>
                  <a:srgbClr val="181818"/>
                </a:solidFill>
                <a:latin typeface="Calibri"/>
              </a:defRPr>
            </a:pPr>
            <a:r>
              <a:t>AI-powered decision support for Indian commodity exporters</a:t>
            </a:r>
          </a:p>
          <a:p>
            <a:pPr>
              <a:spcAft>
                <a:spcPts val="700"/>
              </a:spcAft>
              <a:defRPr sz="2400">
                <a:solidFill>
                  <a:srgbClr val="181818"/>
                </a:solidFill>
                <a:latin typeface="Calibri"/>
              </a:defRPr>
            </a:pPr>
            <a:r>
              <a:t>Demand + Price + Logistics + Container Prioritization in one platform</a:t>
            </a:r>
          </a:p>
          <a:p>
            <a:pPr>
              <a:spcAft>
                <a:spcPts val="700"/>
              </a:spcAft>
              <a:defRPr sz="2400">
                <a:solidFill>
                  <a:srgbClr val="181818"/>
                </a:solidFill>
                <a:latin typeface="Calibri"/>
              </a:defRPr>
            </a:pPr>
            <a:r>
              <a:t>Live news aware, explainable, and presentation-ready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Presented by: &lt;Your Name&gt;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  <a:latin typeface="Calibri"/>
              </a:defRPr>
            </a:pPr>
            <a:r>
              <a:t>ExportIntel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183674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5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1. Problem and objectives</a:t>
            </a:r>
          </a:p>
          <a:p>
            <a:pPr>
              <a:spcAft>
                <a:spcPts val="7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2. Architecture and workflow</a:t>
            </a:r>
          </a:p>
          <a:p>
            <a:pPr>
              <a:spcAft>
                <a:spcPts val="7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3. ML, RAG, and live news integration</a:t>
            </a:r>
          </a:p>
          <a:p>
            <a:pPr>
              <a:spcAft>
                <a:spcPts val="7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4. Logistics and container optimization</a:t>
            </a:r>
          </a:p>
          <a:p>
            <a:pPr>
              <a:spcAft>
                <a:spcPts val="7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5. Demo outcomes, impact, and 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  <a:latin typeface="Calibri"/>
              </a:defRPr>
            </a:pPr>
            <a:r>
              <a:t>ExportIntel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183674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5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81818"/>
                </a:solidFill>
                <a:latin typeface="Calibri"/>
              </a:defRPr>
            </a:pPr>
            <a:r>
              <a:t>Export planning needs fast decisions across demand, pricing, and logistics.</a:t>
            </a:r>
          </a:p>
          <a:p>
            <a:pPr>
              <a:spcAft>
                <a:spcPts val="700"/>
              </a:spcAft>
              <a:defRPr sz="2100">
                <a:solidFill>
                  <a:srgbClr val="181818"/>
                </a:solidFill>
                <a:latin typeface="Calibri"/>
              </a:defRPr>
            </a:pPr>
            <a:r>
              <a:t>Manual market analysis is slow and often misses daily news shifts.</a:t>
            </a:r>
          </a:p>
          <a:p>
            <a:pPr>
              <a:spcAft>
                <a:spcPts val="700"/>
              </a:spcAft>
              <a:defRPr sz="2100">
                <a:solidFill>
                  <a:srgbClr val="181818"/>
                </a:solidFill>
                <a:latin typeface="Calibri"/>
              </a:defRPr>
            </a:pPr>
            <a:r>
              <a:t>Route and container choices directly impact profit and delivery reliability.</a:t>
            </a:r>
          </a:p>
          <a:p>
            <a:pPr>
              <a:spcAft>
                <a:spcPts val="700"/>
              </a:spcAft>
              <a:defRPr sz="2100">
                <a:solidFill>
                  <a:srgbClr val="181818"/>
                </a:solidFill>
                <a:latin typeface="Calibri"/>
              </a:defRPr>
            </a:pPr>
            <a:r>
              <a:t>Need one intelligent system for end-to-end export recommendations.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  <a:latin typeface="Calibri"/>
              </a:defRPr>
            </a:pPr>
            <a:r>
              <a:t>ExportIntel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183674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5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81818"/>
                </a:solidFill>
                <a:latin typeface="Calibri"/>
              </a:defRPr>
            </a:pPr>
            <a:r>
              <a:t>Predict top country-commodity demand opportunities</a:t>
            </a:r>
          </a:p>
          <a:p>
            <a:pPr>
              <a:spcAft>
                <a:spcPts val="700"/>
              </a:spcAft>
              <a:defRPr sz="2100">
                <a:solidFill>
                  <a:srgbClr val="181818"/>
                </a:solidFill>
                <a:latin typeface="Calibri"/>
              </a:defRPr>
            </a:pPr>
            <a:r>
              <a:t>Forecast next-month India commodity prices</a:t>
            </a:r>
          </a:p>
          <a:p>
            <a:pPr>
              <a:spcAft>
                <a:spcPts val="700"/>
              </a:spcAft>
              <a:defRPr sz="2100">
                <a:solidFill>
                  <a:srgbClr val="181818"/>
                </a:solidFill>
                <a:latin typeface="Calibri"/>
              </a:defRPr>
            </a:pPr>
            <a:r>
              <a:t>Optimize India port to destination corridor profitability</a:t>
            </a:r>
          </a:p>
          <a:p>
            <a:pPr>
              <a:spcAft>
                <a:spcPts val="700"/>
              </a:spcAft>
              <a:defRPr sz="2100">
                <a:solidFill>
                  <a:srgbClr val="181818"/>
                </a:solidFill>
                <a:latin typeface="Calibri"/>
              </a:defRPr>
            </a:pPr>
            <a:r>
              <a:t>Prioritize limited container allocation</a:t>
            </a:r>
          </a:p>
          <a:p>
            <a:pPr>
              <a:spcAft>
                <a:spcPts val="700"/>
              </a:spcAft>
              <a:defRPr sz="2100">
                <a:solidFill>
                  <a:srgbClr val="181818"/>
                </a:solidFill>
                <a:latin typeface="Calibri"/>
              </a:defRPr>
            </a:pPr>
            <a:r>
              <a:t>Provide explainable insights and document-grounded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  <a:latin typeface="Calibri"/>
              </a:defRPr>
            </a:pPr>
            <a:r>
              <a:t>ExportIntel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183674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  <a:latin typeface="Calibri"/>
              </a:defRPr>
            </a:pPr>
            <a:r>
              <a:t>End-to-end multi-agent design and data flow</a:t>
            </a:r>
          </a:p>
        </p:txBody>
      </p:sp>
      <p:pic>
        <p:nvPicPr>
          <p:cNvPr id="6" name="Picture 5" descr="ExportIntel_AI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481328"/>
            <a:ext cx="1097280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  <a:latin typeface="Calibri"/>
              </a:defRPr>
            </a:pPr>
            <a:r>
              <a:t>ExportIntel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183674"/>
                </a:solidFill>
                <a:latin typeface="Calibri"/>
              </a:defRPr>
            </a:pPr>
            <a:r>
              <a:t>Pipeline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5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News Agent: fetches live demand and India commodity market news</a:t>
            </a:r>
          </a:p>
          <a:p>
            <a:pPr>
              <a:spcAft>
                <a:spcPts val="7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Demand Agent: scores opportunities from model + extracted features</a:t>
            </a:r>
          </a:p>
          <a:p>
            <a:pPr>
              <a:spcAft>
                <a:spcPts val="7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Price Agent: predicts next-month prices with news adjustment</a:t>
            </a:r>
          </a:p>
          <a:p>
            <a:pPr>
              <a:spcAft>
                <a:spcPts val="7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Logistics Agent: evaluates route cost, days, and net profit</a:t>
            </a:r>
          </a:p>
          <a:p>
            <a:pPr>
              <a:spcAft>
                <a:spcPts val="7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Container Agent: allocates containers by opportunity score</a:t>
            </a:r>
          </a:p>
          <a:p>
            <a:pPr>
              <a:spcAft>
                <a:spcPts val="7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Explain Agent + RAG: generates reasoning and answers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  <a:latin typeface="Calibri"/>
              </a:defRPr>
            </a:pPr>
            <a:r>
              <a:t>ExportIntel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183674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83674"/>
                </a:solidFill>
              </a:defRPr>
            </a:pPr>
            <a:r>
              <a:t>Application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60020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83674"/>
                </a:solidFill>
              </a:defRPr>
            </a:pPr>
            <a:r>
              <a:t>AI and Intelligence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1663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98348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Frontend: React + Vite</a:t>
            </a:r>
          </a:p>
          <a:p>
            <a:pPr>
              <a:spcAft>
                <a:spcPts val="7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Backend: Flask REST APIs</a:t>
            </a:r>
          </a:p>
          <a:p>
            <a:pPr>
              <a:spcAft>
                <a:spcPts val="7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Data processing: Pandas</a:t>
            </a:r>
          </a:p>
          <a:p>
            <a:pPr>
              <a:spcAft>
                <a:spcPts val="7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Persistence: SQLite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1920240"/>
            <a:ext cx="51663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498348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ML: XGBoost/Joblib</a:t>
            </a:r>
          </a:p>
          <a:p>
            <a:pPr>
              <a:spcAft>
                <a:spcPts val="7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LLM: Groq (Llama 3.3 70B)</a:t>
            </a:r>
          </a:p>
          <a:p>
            <a:pPr>
              <a:spcAft>
                <a:spcPts val="7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RAG: Chroma Vector DB</a:t>
            </a:r>
          </a:p>
          <a:p>
            <a:pPr>
              <a:spcAft>
                <a:spcPts val="7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News APIs: GDELT + Google RSS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  <a:latin typeface="Calibri"/>
              </a:defRPr>
            </a:pPr>
            <a:r>
              <a:t>ExportIntel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183674"/>
                </a:solidFill>
                <a:latin typeface="Calibri"/>
              </a:defRPr>
            </a:pPr>
            <a:r>
              <a:t>Demand Prediction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5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News headlines are parsed for country, commodity, and sentiment indicators.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Model computes demand score (0 to 1) for each country-commodity pair.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Shortage, production drop, and export opportunity increase demand score.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Top opportunities are ranked and passed to the next stages.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  <a:latin typeface="Calibri"/>
              </a:defRPr>
            </a:pPr>
            <a:r>
              <a:t>ExportIntel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183674"/>
                </a:solidFill>
                <a:latin typeface="Calibri"/>
              </a:defRPr>
            </a:pPr>
            <a:r>
              <a:t>Price Forecasting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5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Current price baseline comes from commodity mandi dataset (INR/quintal).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XGBoost predicts base next-month price per commodity.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News sentiment adds controlled positive or negative adjustment.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Prediction can change across runs when relevant news tone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  <a:latin typeface="Calibri"/>
              </a:defRPr>
            </a:pPr>
            <a:r>
              <a:t>ExportIntel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183674"/>
                </a:solidFill>
                <a:latin typeface="Calibri"/>
              </a:defRPr>
            </a:pPr>
            <a:r>
              <a:t>Logistics and Net Profit Calculation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5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Net profit/ton = sell price - buy price - logistics cost/ton.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Buying amount is considered from predicted India commodity price.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Quantity is considered at container/allocation profit level.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Displayed values use INR conversion at fixed FX: 1 USD = Rs.96.3.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  <a:latin typeface="Calibri"/>
              </a:defRPr>
            </a:pPr>
            <a:r>
              <a:t>ExportIntel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183674"/>
                </a:solidFill>
                <a:latin typeface="Calibri"/>
              </a:defRPr>
            </a:pPr>
            <a:r>
              <a:t>RAG, Vector DB, and 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5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Trusted CSV datasets are indexed into Chroma Vector DB as chunks.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User question retrieves top relevant chunks using vector similarity.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Groq LLM answers using retrieved context for grounded responses.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Fallback retrieval uses sklearn TF-IDF if Chroma is unavailable.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  <a:latin typeface="Calibri"/>
              </a:defRPr>
            </a:pPr>
            <a:r>
              <a:t>ExportIntel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183674"/>
                </a:solidFill>
                <a:latin typeface="Calibri"/>
              </a:defRPr>
            </a:pPr>
            <a:r>
              <a:t>Live News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5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Fetch Live News API calls GDELT + Google News RSS in parallel.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Demand news requires target countries + selected commodities.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Price news requires selected commodities + India market context.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Headlines are deduped, cleaned, and capped to top 10 per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  <a:latin typeface="Calibri"/>
              </a:defRPr>
            </a:pPr>
            <a:r>
              <a:t>ExportIntel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183674"/>
                </a:solidFill>
                <a:latin typeface="Calibri"/>
              </a:defRPr>
            </a:pPr>
            <a:r>
              <a:t>Live Demo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  <a:latin typeface="Calibri"/>
              </a:defRPr>
            </a:pPr>
            <a:r>
              <a:t>Dashboard | Demand | Logistics | Container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  <a:latin typeface="Calibri"/>
              </a:defRPr>
            </a:pPr>
            <a:r>
              <a:t>ExportIntel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183674"/>
                </a:solidFill>
                <a:latin typeface="Calibri"/>
              </a:defRPr>
            </a:pPr>
            <a:r>
              <a:t>Results and Observations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5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Platform produces consistent top demand, price, and route decisions.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Container plan reflects practical limited-capacity export prioritization.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Dashboard gives quick management view for export-first action.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System behavior is explainable through Agent Reasoning + RAG.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  <a:latin typeface="Calibri"/>
              </a:defRPr>
            </a:pPr>
            <a:r>
              <a:t>ExportIntel 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183674"/>
                </a:solidFill>
                <a:latin typeface="Calibri"/>
              </a:defRPr>
            </a:pPr>
            <a:r>
              <a:t>Business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5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Faster export decision cycle with lower manual effort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Higher visibility into profitability before shipment commitment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Data-backed route and container decisions for operations teams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Clear communication for leadership through interactive dashboards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  <a:latin typeface="Calibri"/>
              </a:defRPr>
            </a:pPr>
            <a:r>
              <a:t>ExportIntel 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183674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5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Kafka-based streaming ingestion for continuous market updates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Databricks pipeline for large-scale batch/stream processing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Dynamic FX updates and risk-aware confidence intervals</a:t>
            </a:r>
          </a:p>
          <a:p>
            <a:pPr>
              <a:spcAft>
                <a:spcPts val="7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Scenario simulation: what-if planning by container and route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  <a:latin typeface="Calibri"/>
              </a:defRPr>
            </a:pPr>
            <a:r>
              <a:t>ExportIntel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515600" cy="3291840"/>
          </a:xfrm>
          <a:prstGeom prst="round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231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37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CE6FF"/>
                </a:solidFill>
                <a:latin typeface="Calibri"/>
              </a:defRPr>
            </a:pPr>
            <a:r>
              <a:t>Questions and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E6E"/>
                </a:solidFill>
                <a:latin typeface="Calibri"/>
              </a:defRPr>
            </a:pPr>
            <a:r>
              <a:t>ExportIntel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